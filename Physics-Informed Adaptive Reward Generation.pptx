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93528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PROPOSAL · REINFORCEMENT LEARNING × ROBOTICS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106984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Adaptive Reward Generation for Sim-to-Real Dexterous Hand Control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Amartya Ranjan (23BRS1309), Rajarshi Somvanshi (23BRS1171), Aditya Kumar Singh (23BRS1356)  ·  SCOPE, Vellore Institute of Technology, Chennai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7083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Saranya M (SCOPE) ·  Month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248" y="5120640"/>
            <a:ext cx="2473452" cy="384048"/>
          </a:xfrm>
          <a:prstGeom prst="roundRect">
            <a:avLst>
              <a:gd name="adj" fmla="val 50000"/>
            </a:avLst>
          </a:prstGeom>
          <a:solidFill>
            <a:srgbClr val="24363C"/>
          </a:solidFill>
          <a:ln w="12700">
            <a:solidFill>
              <a:srgbClr val="3A4C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5120640"/>
            <a:ext cx="24734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reward generation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06140" y="5120640"/>
            <a:ext cx="3241548" cy="384048"/>
          </a:xfrm>
          <a:prstGeom prst="roundRect">
            <a:avLst>
              <a:gd name="adj" fmla="val 50000"/>
            </a:avLst>
          </a:prstGeom>
          <a:solidFill>
            <a:srgbClr val="24363C"/>
          </a:solidFill>
          <a:ln w="12700">
            <a:solidFill>
              <a:srgbClr val="3A4C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50868" y="5120640"/>
            <a:ext cx="32415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domain randomization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93584" y="5120640"/>
            <a:ext cx="2569464" cy="384048"/>
          </a:xfrm>
          <a:prstGeom prst="roundRect">
            <a:avLst>
              <a:gd name="adj" fmla="val 50000"/>
            </a:avLst>
          </a:prstGeom>
          <a:solidFill>
            <a:srgbClr val="24363C"/>
          </a:solidFill>
          <a:ln w="12700">
            <a:solidFill>
              <a:srgbClr val="3A4C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848856" y="5120640"/>
            <a:ext cx="25694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failure diagnosis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9464216" y="5120640"/>
            <a:ext cx="2665476" cy="384048"/>
          </a:xfrm>
          <a:prstGeom prst="roundRect">
            <a:avLst>
              <a:gd name="adj" fmla="val 50000"/>
            </a:avLst>
          </a:prstGeom>
          <a:solidFill>
            <a:srgbClr val="24363C"/>
          </a:solidFill>
          <a:ln w="12700">
            <a:solidFill>
              <a:srgbClr val="3A4C5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19488" y="5120640"/>
            <a:ext cx="26654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 Hand + LEAP Hand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INTRODUCTION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automate reward design for dexterous hands?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5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engineering is the bottleneck of RL</a:t>
            </a:r>
            <a:r>
              <a:rPr lang="en-US" sz="16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hand-tuned rewards need expert effort, and poor rewards silently cap policy quality.</a:t>
            </a:r>
            <a:endParaRPr lang="en-US" sz="160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[1]</a:t>
            </a:r>
            <a:r>
              <a:rPr lang="en-US" sz="16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coding LLM writes reward functions from raw environment source code, refined by evolutionary search + reward reflection.</a:t>
            </a:r>
            <a:endParaRPr lang="en-US" sz="160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DrEureka [2]</a:t>
            </a:r>
            <a:r>
              <a:rPr lang="en-US" sz="16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extends this by LLM-generating domain randomization (DR) configs → zero-shot sim-to-real transfer.</a:t>
            </a:r>
            <a:endParaRPr lang="en-US" sz="160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Dexterous in-hand manipulation</a:t>
            </a:r>
            <a:r>
              <a:rPr lang="en-US" sz="16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hardest testbed: high DOF (16–20 actuated joints), continuous multi-point contact, severe sim-to-real gap.</a:t>
            </a:r>
            <a:endParaRPr lang="en-US" sz="160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uses PPO [3]</a:t>
            </a:r>
            <a:r>
              <a:rPr lang="en-US" sz="16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massively parallel GPU simulation (Isaac Gym [10]) — thousands of environments per GPU.</a:t>
            </a:r>
            <a:endParaRPr lang="en-US" sz="1600" dirty="0"/>
          </a:p>
          <a:p>
            <a:pPr marL="0" indent="0">
              <a:lnSpc>
                <a:spcPct val="135000"/>
              </a:lnSpc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aim</a:t>
            </a:r>
            <a:r>
              <a:rPr lang="en-US" sz="16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make the reward–DR loop self-diagnosing and adaptive, so it converges to rewards that transfer, not just rewards that score.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PROBLEM STATEMENT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reward loop is blind to physics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34440" y="166420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DR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DrEureka fixes DR ranges once, before training; policy robustness evolves, ranges don't (named a limitation by the authors themselves [2]).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350008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350008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32257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failure attribution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Reward reflection reports that a reward failed, never why: reward-logic bug vs. physics/dynamics mismatch look identical to the LLM.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008376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008376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98094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reward shunting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unconstrained LLM “fixes” physics errors inside reward code, masking the true cause and hurting transfer.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66744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3666744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34440" y="363931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feedback channel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Hand-crafted per-component scalar statistics discard where and how trajectories fail.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5F8F7"/>
          </a:solidFill>
          <a:ln w="12700">
            <a:solidFill>
              <a:srgbClr val="D3DD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4581144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statement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task spec ℓ and environment M, jointly search reward R and DR distribution φ such that a PPO policy trained on (Mφ, R) maximizes true task fitness F on the real / held-out system — with failure feedback that separates physical mismatch from reward-logic error.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LITERATURE SURVEY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prior work stands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663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4676E"/>
                          </a:solidFill>
                        </a:rPr>
                        <a:t>Work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4676E"/>
                          </a:solidFill>
                        </a:rPr>
                        <a:t>Approach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4676E"/>
                          </a:solidFill>
                        </a:rPr>
                        <a:t>Limitation w.r.t. this project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5A1D"/>
                          </a:solidFill>
                        </a:rPr>
                        <a:t>Eureka [1]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82F"/>
                          </a:solidFill>
                        </a:rPr>
                        <a:t>LLM reward code + evolutionary search + reward reflection; 29 tasks incl. Shadow Hand pen spinning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4676E"/>
                          </a:solidFill>
                        </a:rPr>
                        <a:t>Sim-only; no DR; reflection is hand-crafted statistics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5A1D"/>
                          </a:solidFill>
                        </a:rPr>
                        <a:t>DrEureka [2]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82F"/>
                          </a:solidFill>
                        </a:rPr>
                        <a:t>LLM-generated DR via reward-aware physics prior; zero-shot real transfer (Go1, LEAP Hand)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4676E"/>
                          </a:solidFill>
                        </a:rPr>
                        <a:t>DR static after generation; no physics diagnosis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5A1D"/>
                          </a:solidFill>
                        </a:rPr>
                        <a:t>ADR [5]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82F"/>
                          </a:solidFill>
                        </a:rPr>
                        <a:t>Auto-widening DR ranges from policy performance (Rubik's cube)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4676E"/>
                          </a:solidFill>
                        </a:rPr>
                        <a:t>Hand-designed reward; not coupled to any reward loop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5A1D"/>
                          </a:solidFill>
                        </a:rPr>
                        <a:t>REvolve [6]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82F"/>
                          </a:solidFill>
                        </a:rPr>
                        <a:t>LLM rewards with true evolutionary operators + human-feedback fitness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4676E"/>
                          </a:solidFill>
                        </a:rPr>
                        <a:t>Needs humans in loop; no DR, no physics signal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5A1D"/>
                          </a:solidFill>
                        </a:rPr>
                        <a:t>PIN-WM [7]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82F"/>
                          </a:solidFill>
                        </a:rPr>
                        <a:t>Physics-informed world model; DR as “digital cousins” around identified params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4676E"/>
                          </a:solidFill>
                        </a:rPr>
                        <a:t>Non-prehensile pushing; no LLM rewards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5A1D"/>
                          </a:solidFill>
                        </a:rPr>
                        <a:t>PI-DDPG [8]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82F"/>
                          </a:solidFill>
                        </a:rPr>
                        <a:t>PINN-in-the-loop RL control of a 4-DOF manipulator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4676E"/>
                          </a:solidFill>
                        </a:rPr>
                        <a:t>Fixed hand-designed reward; low DOF; no sim-to-real DR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C05A1D"/>
                          </a:solidFill>
                        </a:rPr>
                        <a:t>Surveys [11],[12]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282F"/>
                          </a:solidFill>
                        </a:rPr>
                        <a:t>Taxonomies of sim-to-real: DR, adaptation, system ID, LLM-based reward design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4676E"/>
                          </a:solidFill>
                        </a:rPr>
                        <a:t>Confirm no unified adaptive-DR + physics-diagnosis loop exists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RESEARCH GAPS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gaps at the intersection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DCEA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17320" y="18928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never adapts inside the LLM loop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[5] adapts but has no LLM rewards; DrEureka [2] has LLM rewards but static DR. No work couples both to one feedback channel.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6492240" y="1920240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DCEA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492240" y="192024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132320" y="189280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physics-failure attribution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4688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PINNs model manipulator dynamics [4],[8] — never used to tell an LLM why a reward fails.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777240" y="4389120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DCEA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7240" y="438912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17320" y="43616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never validated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49377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prior protocol tests a diagnosis signal against injected ground-truth faults (known reward bugs vs. known dynamics shifts).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16052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92240" y="4389120"/>
            <a:ext cx="502920" cy="310896"/>
          </a:xfrm>
          <a:prstGeom prst="roundRect">
            <a:avLst>
              <a:gd name="adj" fmla="val 17647"/>
            </a:avLst>
          </a:prstGeom>
          <a:solidFill>
            <a:srgbClr val="DCEA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92240" y="4389120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32320" y="4361688"/>
            <a:ext cx="4251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channel is hand-crafted; single morphology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92240" y="493776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statistics are fixed heuristics, not learned. Reward-generation systems rarely validated across two hand morphologies.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CONTRIBUTIONS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adds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80160" y="1682496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DR in the reward loop</a:t>
            </a:r>
            <a:r>
              <a:rPr lang="en-US" sz="13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ranges widen/narrow every N reward iterations from policy performance, driven by the same feedback channel that edits rewards. (closes G1)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63347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48640" y="263347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failure diagnosis with routing</a:t>
            </a:r>
            <a:r>
              <a:rPr lang="en-US" sz="13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physics-residual signal classifies failures; reward-logic → reward edit only, physics mismatch → DR update only. Reward code is barred from absorbing physics errors. (closes G2)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48640" y="352958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80160" y="3474720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Injection-validated attribution</a:t>
            </a:r>
            <a:r>
              <a:rPr lang="en-US" sz="13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known reward bugs vs. known dynamics perturbations give a ground-truth AUC for the diagnosis signal, plus shuffled-signal placebo arms. (closes G3)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25696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8640" y="442569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80160" y="4370832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failure-mode summarizer</a:t>
            </a:r>
            <a:r>
              <a:rPr lang="en-US" sz="13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MLP trained to predict episode outcome + failure phase replaces hand-crafted reflection statistics. (closes G4, optional rung)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321808"/>
            <a:ext cx="566928" cy="292608"/>
          </a:xfrm>
          <a:prstGeom prst="roundRect">
            <a:avLst>
              <a:gd name="adj" fmla="val 18750"/>
            </a:avLst>
          </a:prstGeom>
          <a:solidFill>
            <a:srgbClr val="DCEA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5321808"/>
            <a:ext cx="566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8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80160" y="5266944"/>
            <a:ext cx="1033272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Cross-morphology ablation</a:t>
            </a:r>
            <a:r>
              <a:rPr lang="en-US" sz="13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full 4-rung ladder on Shadow Hand (20 DOF, sim suite) and LEAP Hand (16 DOF, sim + real hardware); one component changes per rung.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ARCHITECTURE (ABSTRACT)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feedback loops, one diagnosis router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38428" y="1371600"/>
            <a:ext cx="9912096" cy="5843357"/>
          </a:xfrm>
          <a:prstGeom prst="roundRect">
            <a:avLst>
              <a:gd name="adj" fmla="val 1252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work/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1481328"/>
            <a:ext cx="9692640" cy="56239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7269821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 rule: each diagnosis can trigger only its own loop — reward code never compensates for physics mismatch.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MODULE SPLIT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modules, mapped to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13761" cy="210312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49808" y="189280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49808" y="189280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61872" y="1892808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(inherited)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generation loop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9808" y="2898648"/>
            <a:ext cx="312724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Eureka pipeline unmodified: LLM → K candidates → parallel PPO → reflection. Kept as-is for ablation validity (rung 1).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88536" y="1691640"/>
            <a:ext cx="3413761" cy="210312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89704" y="189280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489704" y="189280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01768" y="1892808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(C1)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9704" y="225856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DR controller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9704" y="2898648"/>
            <a:ext cx="312724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Performance-thresholded widen/narrow of DR ranges every N iterations. Initialized from DrEureka's reward-aware physics prior.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28432" y="1691640"/>
            <a:ext cx="3413761" cy="210312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229600" y="189280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0" y="189280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741664" y="1892808"/>
            <a:ext cx="2615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(C2, C3)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2258568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+ diagnosis router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229600" y="2898648"/>
            <a:ext cx="312724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MLP; supervised loss + physics residual (Lagrangian EOM, relaxed contact). Contact-gated diagnostic signal; two-stage routing prompt; pre-trained frozen first.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39" y="3888788"/>
            <a:ext cx="3413761" cy="2283412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49808" y="4226958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49808" y="4693805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Failure-mode summarizer</a:t>
            </a:r>
            <a:endParaRPr lang="en-US" sz="1350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FF95D48-E0D3-46D1-20A4-CC8478A58CE7}"/>
              </a:ext>
            </a:extLst>
          </p:cNvPr>
          <p:cNvGrpSpPr/>
          <p:nvPr/>
        </p:nvGrpSpPr>
        <p:grpSpPr>
          <a:xfrm>
            <a:off x="749808" y="4218324"/>
            <a:ext cx="3127248" cy="3931920"/>
            <a:chOff x="749808" y="6400800"/>
            <a:chExt cx="3127248" cy="3931920"/>
          </a:xfrm>
        </p:grpSpPr>
        <p:sp>
          <p:nvSpPr>
            <p:cNvPr id="24" name="Text 22"/>
            <p:cNvSpPr/>
            <p:nvPr/>
          </p:nvSpPr>
          <p:spPr>
            <a:xfrm>
              <a:off x="749808" y="6400800"/>
              <a:ext cx="45720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50" b="1" dirty="0">
                  <a:solidFill>
                    <a:srgbClr val="C05A1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M4</a:t>
              </a:r>
              <a:endParaRPr lang="en-US" sz="10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1261872" y="6400800"/>
              <a:ext cx="2615184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5467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(C4, optional)</a:t>
              </a:r>
              <a:endParaRPr lang="en-US" sz="10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749808" y="7406640"/>
              <a:ext cx="3127248" cy="292608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lnSpc>
                  <a:spcPct val="125000"/>
                </a:lnSpc>
                <a:buNone/>
              </a:pPr>
              <a:r>
                <a:rPr lang="en-US" sz="1100" dirty="0">
                  <a:solidFill>
                    <a:srgbClr val="54676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Trained on free labels: episode success + hindsight failure phase. Descriptors join the reflection channel; cuttable without breaking M1–M3.</a:t>
              </a:r>
              <a:endParaRPr lang="en-US" sz="11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4288536" y="3931920"/>
            <a:ext cx="3413761" cy="2240280"/>
          </a:xfrm>
          <a:prstGeom prst="roundRect">
            <a:avLst>
              <a:gd name="adj" fmla="val 2073"/>
            </a:avLst>
          </a:prstGeom>
          <a:solidFill>
            <a:srgbClr val="FFFFFF"/>
          </a:solidFill>
          <a:ln w="12700">
            <a:solidFill>
              <a:srgbClr val="D3DDDA"/>
            </a:solidFill>
            <a:prstDash val="solid"/>
          </a:ln>
          <a:effectLst>
            <a:outerShdw blurRad="76200" dist="25400" dir="5400000" algn="bl" rotWithShape="0">
              <a:srgbClr val="1F2A2E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489704" y="4235584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F3E2D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489704" y="42183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17136" y="4608414"/>
            <a:ext cx="312724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transfer harness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489704" y="5224164"/>
            <a:ext cx="312724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4-rung ablation ladder × 2 morphologies. Injection calibration, placebo arms, routing audit. Real LEAP Hand deployment; held-out “pseudo-real” sim for Shadow Hand.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DATASET DESCRIPTION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Simulation-generated data, four corpora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28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fixed offline dataset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all training data is generated online by GPU-parallel simulation (~4,096 environments per run, native control rate ≈ 60 Hz).</a:t>
            </a:r>
            <a:endParaRPr lang="en-US" sz="1350" dirty="0"/>
          </a:p>
          <a:p>
            <a:pPr marL="0" indent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Shadow Hand [1],[10]: 24 joints / 20 actuated; Eureka's 29-task suite. LEAP Hand [2],[9]: 16 DOF; in-hand cube rotation; observations = 16 joint angles + proprioceptive history only (no object pose).</a:t>
            </a:r>
            <a:endParaRPr lang="en-US" sz="1350" dirty="0"/>
          </a:p>
          <a:p>
            <a:pPr marL="0" indent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 telemetry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(per step): joint positions/velocities/torques, tracking error, contact events, active DR parameter values — feeds reflection + summarizer.</a:t>
            </a:r>
            <a:endParaRPr lang="en-US" sz="1350" dirty="0"/>
          </a:p>
          <a:p>
            <a:pPr marL="0" indent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 corpus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privileged sim transitions — hand joint state + object 6-DoF pose/twist + DR params — sampled across DR ranges; physics residual is self-supervised (no manual labels).</a:t>
            </a:r>
            <a:endParaRPr lang="en-US" sz="1350" dirty="0"/>
          </a:p>
          <a:p>
            <a:pPr marL="0" indent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Summarizer corpus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episodes auto-labeled success/failure by fitness F, plus hindsight failure-phase windows.</a:t>
            </a:r>
            <a:endParaRPr lang="en-US" sz="1350" dirty="0"/>
          </a:p>
          <a:p>
            <a:pPr marL="0" indent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Injection corpus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(ground truth for validation): labeled runs with seeded reward bugs (sign flip, wrong scale, missing term) vs. seeded dynamics shifts (mass ×1.5, friction ×0.3, added damping).</a:t>
            </a:r>
            <a:endParaRPr lang="en-US" sz="1350" dirty="0"/>
          </a:p>
          <a:p>
            <a:pPr marL="0" indent="0">
              <a:lnSpc>
                <a:spcPct val="128000"/>
              </a:lnSpc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72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eval set</a:t>
            </a:r>
            <a:r>
              <a:rPr lang="en-US" sz="13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physical LEAP Hand rollouts — rotations per 20 s episode, zero-shot.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PERFORMANCE METRICS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claim gets its own number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6634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4676E"/>
                          </a:solidFill>
                        </a:rPr>
                        <a:t>Claim under test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4676E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54676E"/>
                          </a:solidFill>
                        </a:rPr>
                        <a:t>Protocol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82F"/>
                          </a:solidFill>
                        </a:rPr>
                        <a:t>Reward quality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76E"/>
                          </a:solidFill>
                        </a:rPr>
                        <a:t>Task fitness F: consecutive successes (reorientation); rotations / 20 s (LEAP); human-normalized improvement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5A1D"/>
                          </a:solidFill>
                        </a:rPr>
                        <a:t>Eureka scoring, unchanged [1]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82F"/>
                          </a:solidFill>
                        </a:rPr>
                        <a:t>Sim-to-real transfer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76E"/>
                          </a:solidFill>
                        </a:rPr>
                        <a:t>Zero-shot success rate + rotations on physical LEAP Hand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5A1D"/>
                          </a:solidFill>
                        </a:rPr>
                        <a:t>DrEureka deployment protocol [2]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82F"/>
                          </a:solidFill>
                        </a:rPr>
                        <a:t>Sim-to-OOD-sim transfer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76E"/>
                          </a:solidFill>
                        </a:rPr>
                        <a:t>Fitness on held-out perturbed sim config (outside all DR ranges)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5A1D"/>
                          </a:solidFill>
                        </a:rPr>
                        <a:t>Shadow Hand; config hidden from whole loop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82F"/>
                          </a:solidFill>
                        </a:rPr>
                        <a:t>Diagnosis validity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76E"/>
                          </a:solidFill>
                        </a:rPr>
                        <a:t>AUC: reward-bug vs. dynamics-shift discrimination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5A1D"/>
                          </a:solidFill>
                        </a:rPr>
                        <a:t>Injection calibration study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82F"/>
                          </a:solidFill>
                        </a:rPr>
                        <a:t>Routing quality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76E"/>
                          </a:solidFill>
                        </a:rPr>
                        <a:t>Diagnosis→edit confusion matrix accuracy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5A1D"/>
                          </a:solidFill>
                        </a:rPr>
                        <a:t>Routing audit vs. injected ground truth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82F"/>
                          </a:solidFill>
                        </a:rPr>
                        <a:t>Signal is load-bearing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76E"/>
                          </a:solidFill>
                        </a:rPr>
                        <a:t>Δ fitness: real vs. shuffled vs. no signal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5A1D"/>
                          </a:solidFill>
                        </a:rPr>
                        <a:t>Placebo arms (2×2 at rung 4)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7282F"/>
                          </a:solidFill>
                        </a:rPr>
                        <a:t>Efficiency</a:t>
                      </a:r>
                      <a:endParaRPr lang="en-US" sz="11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4676E"/>
                          </a:solidFill>
                        </a:rPr>
                        <a:t>Reward iterations-to-threshold; wall-clock per rung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C05A1D"/>
                          </a:solidFill>
                        </a:rPr>
                        <a:t>Identical budgets across rungs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Eureka/DrEureka precisely where its authors flagged limits: </a:t>
            </a:r>
            <a:r>
              <a:rPr lang="en-US" sz="1500" dirty="0">
                <a:solidFill>
                  <a:srgbClr val="AE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DR → adaptive, blind reflection → physics-attributed diagnosis.</a:t>
            </a:r>
            <a:endParaRPr lang="en-US" sz="150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rule is the key safeguard</a:t>
            </a:r>
            <a:r>
              <a:rPr lang="en-US" sz="1500" dirty="0">
                <a:solidFill>
                  <a:srgbClr val="AE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reward edits fix reward logic, DR updates fix physics, so the PINN's contribution stays measurable.</a:t>
            </a:r>
            <a:endParaRPr lang="en-US" sz="150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is built in, not bolted on</a:t>
            </a:r>
            <a:r>
              <a:rPr lang="en-US" sz="1500" dirty="0">
                <a:solidFill>
                  <a:srgbClr val="AE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injection ground truth, placebo arms, one-component-per-rung ablation, replicated across two hand morphologies.</a:t>
            </a:r>
            <a:endParaRPr lang="en-US" sz="150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r>
              <a:rPr lang="en-US" sz="1500" dirty="0">
                <a:solidFill>
                  <a:srgbClr val="AE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adaptive reward-generation pipeline, validated diagnosis protocol (reusable beyond this system), zero-shot real LEAP Hand transfer results.</a:t>
            </a:r>
            <a:endParaRPr lang="en-US" sz="1500" dirty="0"/>
          </a:p>
          <a:p>
            <a:pPr marL="0" indent="0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r>
              <a:rPr lang="en-US" sz="1500" dirty="0">
                <a:solidFill>
                  <a:srgbClr val="AEB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vision-based observations, online PINN retraining, extension to bimanual and deformable-object manipulation.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2120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1F2E34"/>
          </a:solidFill>
          <a:ln w="12700">
            <a:solidFill>
              <a:srgbClr val="32424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5330952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milestones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564184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9D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Rung-1 reproduction on both platforms → injection calibration study (go/no-go for the PINN pillar) → LEAP Hand hardware build in parallel.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05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REFERENCES (IEEE)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40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Y. J. Ma et al., “Eureka: Human-level reward design via coding large language models,” in Proc. ICLR, Vienna, Austria, 2024.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Y. J. Ma et al., “DrEureka: Language model guided sim-to-real transfer,” in Proc. RSS, Delft, Netherlands, 2024.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J. Schulman et al., “Proximal policy optimization algorithms,” arXiv:1707.06347, 2017.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M. Raissi, P. Perdikaris, and G. E. Karniadakis, “Physics-informed neural networks,” J. Comput. Phys., vol. 378, pp. 686–707, 2019.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I. Akkaya et al., “Solving Rubik's cube with a robot hand,” arXiv:1910.07113, 2019.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R. Hazra et al., “REvolve: Reward evolution with LLMs using human feedback,” arXiv:2406.01309, 2025.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W. Li et al., “PIN-WM: Physics-informed world models for non-prehensile manipulation,” arXiv:2504.16693, 2025.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172200" y="1691640"/>
            <a:ext cx="5440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R. Fareh et al., “Physics-informed reward shaped RL control of a robot manipulator,” Ain Shams Eng. J., vol. 16, 2025.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K. Shaw, A. Agarwal, and D. Pathak, “LEAP Hand: Low-cost, anthropomorphic hand for robot learning,” in Proc. RSS, Daegu, South Korea, 2023.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V. Makoviychuk et al., “Isaac Gym: GPU-based physics simulation for robot learning,” in Proc. NeurIPS Datasets and Benchmarks, 2021.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L. Da et al., “A survey of sim-to-real methods in RL,” arXiv:2502.13187, 2025.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A. Pitkevich and I. Makarov, “A survey on sim-to-real transfer for robotic manipulation,” in Proc. IEEE SISY, 2024.</a:t>
            </a:r>
            <a:endParaRPr lang="en-US" sz="105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05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J. Deng, Y. Dong, and Z. Liu, “Reward shaping in RL for robotic hand manipulation,” Neurocomputing, vol. 638, 2025.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1000232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467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2018</Words>
  <Application>Microsoft Office PowerPoint</Application>
  <PresentationFormat>Widescreen</PresentationFormat>
  <Paragraphs>186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Amartya Ranjan</cp:lastModifiedBy>
  <cp:revision>3</cp:revision>
  <dcterms:created xsi:type="dcterms:W3CDTF">2026-07-20T22:56:58Z</dcterms:created>
  <dcterms:modified xsi:type="dcterms:W3CDTF">2026-07-21T04:52:04Z</dcterms:modified>
</cp:coreProperties>
</file>